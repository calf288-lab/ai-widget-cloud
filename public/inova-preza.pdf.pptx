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433" y="2445990"/>
            <a:ext cx="2307133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48737" y="2979390"/>
            <a:ext cx="8694524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Нейромаркетинг в действии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840360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От исследования подсознательных мотивов потребителя к взрывному росту конверсии и продаж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358" y="2541240"/>
            <a:ext cx="1428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38786" y="2481262"/>
            <a:ext cx="7914426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8FAFC"/>
                </a:solidFill>
                <a:latin typeface="Space Grotesk"/>
              </a:rPr>
              <a:t>Анатомия Принятия Решений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805237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Как три уровня головного мозга формируют потребительский выбор и управляют намерением совершить покупку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04058"/>
            <a:ext cx="5324475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04058"/>
            <a:ext cx="5324475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46958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Традиционный Маркетинг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56533"/>
            <a:ext cx="46386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Опирается на фокус-группы и опросы. Клиенты рационализируют свои действия задним числом, что часто приводит к искажениям («люди не говорят то, что реально делают»).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46958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Нейромаркетинг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56533"/>
            <a:ext cx="46386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Фиксирует непроизвольные биометрические сигналы мозговой активности, эмоционального отклика и движения глаз ещё до того, как мысль сформулирована логически.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85775"/>
            <a:ext cx="11421427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Логика vs Подсознание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637" y="2223045"/>
            <a:ext cx="3143250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0" y="2868364"/>
            <a:ext cx="559069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Глубинный отклик мозга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277939"/>
            <a:ext cx="53244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Более 90% решений о покупке принимаются на подсознательном уровне. Исследование импульсов лимбической системы позволяет выявить реальные боли и драйверы аудитории.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4120901"/>
            <a:ext cx="53244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Использование нейрометрик исключает фактор субъективной ошибки в рыночных исследованиях.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212" y="2251620"/>
            <a:ext cx="308610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3425" y="485775"/>
            <a:ext cx="11421427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Нейробиология Вовлечения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27795"/>
            <a:ext cx="5324475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125414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127795"/>
            <a:ext cx="5133975" cy="485775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CBD5E1"/>
                </a:solidFill>
                <a:latin typeface="Plus Jakarta Sans"/>
              </a:rPr>
              <a:t>Анализ F-паттернов: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Посетители сканируют интерфейс по биологически заданным траекториям.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25489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727870"/>
            <a:ext cx="5133975" cy="485775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CBD5E1"/>
                </a:solidFill>
                <a:latin typeface="Plus Jakarta Sans"/>
              </a:rPr>
              <a:t>Направляющий взгляд: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Изображения людей, смотрящих на CTA-кнопку, увеличивают кликабельность на 35%.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25564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327945"/>
            <a:ext cx="5133975" cy="485775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CBD5E1"/>
                </a:solidFill>
                <a:latin typeface="Plus Jakarta Sans"/>
              </a:rPr>
              <a:t>Цветовой контраст: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Мозг мгновенно выхватывает элементы, выделяющиеся из общего фона.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25639"/>
            <a:ext cx="857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928020"/>
            <a:ext cx="5133975" cy="485775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CBD5E1"/>
                </a:solidFill>
                <a:latin typeface="Plus Jakarta Sans"/>
              </a:rPr>
              <a:t>Устранение трения: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Уменьшение визуального шума снижает когнитивную нагрузку на пользователя.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137320"/>
            <a:ext cx="5305425" cy="3314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3425" y="485775"/>
            <a:ext cx="11421427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Визуальное Внимание и Eye-Tracking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3425" y="485775"/>
            <a:ext cx="5380672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Цифровая Нейроаналитика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217265"/>
            <a:ext cx="554069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Устранение точек трения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626840"/>
            <a:ext cx="52768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Сочетание UX-проектирования и аналитики подсознательных реакций позволяет точно определить моменты сомнения клиента.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259062"/>
            <a:ext cx="527685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Оптимизация пути пользователя на основе нейроданных повышает конверсию воронки продаж и снижает стоимость привлечения клиентов (CAC).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51633"/>
            <a:ext cx="3486150" cy="2886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351633"/>
            <a:ext cx="3486150" cy="2886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351633"/>
            <a:ext cx="3486150" cy="2886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646908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447008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Рептильный мозг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56583"/>
            <a:ext cx="28956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Отвечает за выживание и безопасность. Требует быстрых решений, простоты, понятности и мгновенного закрытия болей.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646908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447008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Лимбическая система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856583"/>
            <a:ext cx="28956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Отвечает за эмоции, чувства и социальные связи. Формирует привязанность к бренду и откликается на визуальные триггеры.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646908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447008"/>
            <a:ext cx="304038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Неокортекс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856583"/>
            <a:ext cx="28956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Отвечает за рациональное мышление. Подбирает аргументы и логические оправдания уже сделанному подсознательному выбору.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770733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2025" y="2770733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3925" y="2770733"/>
            <a:ext cx="361950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3425" y="485775"/>
            <a:ext cx="11421427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3 Уровня Мозга Покупателя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9211" y="3045172"/>
            <a:ext cx="8613427" cy="1013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b="0" sz="2850" i="0" u="none">
                <a:solidFill>
                  <a:srgbClr val="F8FAFC"/>
                </a:solidFill>
                <a:latin typeface="Space Grotesk Medium"/>
              </a:rPr>
              <a:t>Люди не думают то, что чувствуют, не говорят то, что думают, и не делают то, что говорят.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19266" y="4296519"/>
            <a:ext cx="155317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— Дэвид Огилви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7711" y="2854672"/>
            <a:ext cx="400050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b="0" sz="6750" i="0" u="none">
                <a:solidFill>
                  <a:srgbClr val="38BDF8"/>
                </a:solidFill>
                <a:latin typeface="Space Grotesk Medium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485775"/>
            <a:ext cx="11421427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Ключевой Закон Рынка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1195"/>
            <a:ext cx="5324475" cy="2266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3051720"/>
            <a:ext cx="454342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0" sz="9000" i="0" u="none">
                <a:solidFill>
                  <a:srgbClr val="38BDF8"/>
                </a:solidFill>
                <a:latin typeface="Space Grotesk ExtraBold"/>
              </a:rPr>
              <a:t>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4289970"/>
            <a:ext cx="45434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Plus Jakarta Sans SemiBold"/>
              </a:rPr>
              <a:t>Подсознательных Решений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661195"/>
            <a:ext cx="559069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Фокус на Эмоциональных Триггерах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070770"/>
            <a:ext cx="53244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Plus Jakarta Sans"/>
              </a:rPr>
              <a:t>Лишь 5% решений принимаются полностью осознанно. Использование принципа неприятия потерь (Loss Aversion) и триггера срочности стимулирует аудиторию к целевому действию без лишних раздумий.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85775"/>
            <a:ext cx="11421427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Сила Подсознания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442120"/>
            <a:ext cx="9096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Эффект Якорения: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Первая полученная цена становится ориентиром. Показ первоначальной высокой стоимости делает скидку визуально непреодолимой.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118395"/>
            <a:ext cx="9096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Социальное Доказательство: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Мозг экономит энергию, ориентируясь на выбор большинства (отзывы, кейсы, реальные оценки).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3794670"/>
            <a:ext cx="9096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Принцип Дефицита: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Страх упущенной выгоды (FOMO) активирует миндалевидное тело мозга и подталкивает к быстрой покупке.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4470945"/>
            <a:ext cx="9096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Легкость Восприятия: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Чем проще и понятнее структурирована информация, тем выше доверие мозг испытывает к предложению.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75458"/>
            <a:ext cx="21907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51733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28008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504283"/>
            <a:ext cx="17145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3425" y="485775"/>
            <a:ext cx="11421427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Когнитивные Искажения в Продажах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82539"/>
            <a:ext cx="3486150" cy="3624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982539"/>
            <a:ext cx="3486150" cy="36242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982539"/>
            <a:ext cx="3486150" cy="36242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182564"/>
            <a:ext cx="3086100" cy="190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2182564"/>
            <a:ext cx="3086100" cy="1905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2182564"/>
            <a:ext cx="3086100" cy="190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050" y="4239964"/>
            <a:ext cx="324040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Сенсорный Маркетинг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4649539"/>
            <a:ext cx="30861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Активация эмоций через продуманную визуальную гамму, шрифты и тактильные характеристики упаковки.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2950" y="4239964"/>
            <a:ext cx="324040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Сторителлинг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950" y="4649539"/>
            <a:ext cx="30861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Истории активируют зеркальные нейроны, вызывая эмпатию и сопереживание бренду на глубоком уровне.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4850" y="4239964"/>
            <a:ext cx="324040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Space Grotesk SemiBold"/>
              </a:rPr>
              <a:t>Нейроценообразование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4649539"/>
            <a:ext cx="30861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Стратегия презентации тарифов, снижающая «боль от траты денег» у потенциального клиента.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192089"/>
            <a:ext cx="3067050" cy="1885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2475" y="2192089"/>
            <a:ext cx="3067050" cy="1885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4375" y="2192089"/>
            <a:ext cx="3067050" cy="1885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3425" y="485775"/>
            <a:ext cx="11421427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Инструменты Внедрения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466975"/>
            <a:ext cx="11581447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Space Grotesk"/>
              </a:rPr>
              <a:t>Готовы к Внедрению?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495675"/>
            <a:ext cx="110299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Перейдём от теории и гипотез к росту конверсии вашего бизнеса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143375"/>
            <a:ext cx="11029950" cy="247650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8BDF8"/>
                </a:solidFill>
                <a:latin typeface="Plus Jakarta Sans SemiBold"/>
              </a:rPr>
              <a:t>Обсудить нейромаркетинговый аудит проекта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879" y="4181475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313408"/>
            <a:ext cx="1102995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256383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027908"/>
            <a:ext cx="1102995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3970883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4742408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22468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2468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30183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30183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39613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9613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7328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" y="47328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55044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55044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42008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76400" y="1456283"/>
            <a:ext cx="99345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https://media.istockphoto.com/id/1963738126/vector/human-brain-study-flat-vector-illustration-infographic-of-human-brain-functions-with-color.jpg?s=612x612&amp;w=0&amp;k=20&amp;c=SIvnrvuEw7j3n8YgKzTKkWcU3SSeKrV71TInlLxzlmg=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1875383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99258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76400" y="2406401"/>
            <a:ext cx="99345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https://minio.scielo.br/documentstore/1983-4659/pWMcbCV7N7FSJ7DJzfLsXbR/c81cf975413e4b0b9fe8f0c913983e9f2a97a7c9.png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2639764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www.scielo.br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56508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76400" y="3170783"/>
            <a:ext cx="99345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https://png.pngtree.com/png-vector/20260401/ourlarge/pngtree-futuristic-digital-dashboard-with-real-time-global-data-visualization-and-analytics-png-image_19040277.webp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6400" y="3589883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pngtree.com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113758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76400" y="4120901"/>
            <a:ext cx="99345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https://www.customproductpackaging.com/blog-images/typography-packaging-design.jpg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76400" y="4354264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www.customproductpackaging.com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885283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76400" y="4892426"/>
            <a:ext cx="99345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https://inspire-agency.com/wp-content/uploads/2023/06/brand-storytelling-1024x614.jpeg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6400" y="5125789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inspire-agency.com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656808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76400" y="5663951"/>
            <a:ext cx="99345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https://www.wordstream.com/wp-content/uploads/2021/07/cognitive-biases-compromise-pricing.jpg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6400" y="5897314"/>
            <a:ext cx="99345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www.wordstream.com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425" y="485775"/>
            <a:ext cx="11421427" cy="3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b="1" sz="285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1025" y="485775"/>
            <a:ext cx="38100" cy="39811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